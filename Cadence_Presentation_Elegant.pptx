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15F3C"/>
              </a:solidFill>
              <a:effectLst/>
            </c:spPr>
          </c:dPt>
          <c:dPt>
            <c:idx val="1"/>
            <c:bubble3D val="0"/>
            <c:spPr>
              <a:solidFill>
                <a:srgbClr val="E8D2C5"/>
              </a:solidFill>
              <a:effectLst/>
            </c:spPr>
          </c:dPt>
          <c:dPt>
            <c:idx val="2"/>
            <c:bubble3D val="0"/>
            <c:spPr>
              <a:solidFill>
                <a:srgbClr val="B1ADA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Tier A — Foundational  (60)</c:v>
                </c:pt>
                <c:pt idx="1">
                  <c:v>Tier B — Modulators  (25)</c:v>
                </c:pt>
                <c:pt idx="2">
                  <c:v>Tier C — Subjective  (15)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</c:v>
                </c:pt>
                <c:pt idx="1">
                  <c:v>25</c:v>
                </c:pt>
                <c:pt idx="2">
                  <c:v>15</c:v>
                </c:pt>
              </c:numCache>
            </c:numRef>
          </c:val>
        </c:ser>
        <c:firstSliceAng val="0"/>
        <c:holeSize val="62"/>
      </c:doughnutChart>
      <c:spPr>
        <a:solidFill>
          <a:srgbClr val="F4F3EE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1A14"/>
              </a:solidFill>
              <a:latin typeface="Helvetica Neue"/>
              <a:cs typeface="Helvetica Neue"/>
            </a:defRPr>
          </a:pPr>
          <a:endParaRPr lang="en-US"/>
        </a:p>
      </c:txPr>
    </c:legend>
    <c:plotVisOnly val="1"/>
    <c:dispBlanksAs val="span"/>
  </c:chart>
  <c:spPr>
    <a:solidFill>
      <a:srgbClr val="F4F3E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</c:v>
                </c:pt>
              </c:strCache>
            </c:strRef>
          </c:tx>
          <c:spPr>
            <a:solidFill>
              <a:srgbClr val="C15F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3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Sleep</c:v>
                  </c:pt>
                  <c:pt idx="1">
                    <c:v>Exercise</c:v>
                  </c:pt>
                  <c:pt idx="2">
                    <c:v>Caffeine</c:v>
                  </c:pt>
                  <c:pt idx="3">
                    <c:v>Screen Time</c:v>
                  </c:pt>
                  <c:pt idx="4">
                    <c:v>Mood</c:v>
                  </c:pt>
                  <c:pt idx="5">
                    <c:v>Diet</c:v>
                  </c:pt>
                  <c:pt idx="6">
                    <c:v>Symptoms</c:v>
                  </c:pt>
                  <c:pt idx="7">
                    <c:v>Hydration</c:v>
                  </c:pt>
                  <c:pt idx="8">
                    <c:v>Circadian</c:v>
                  </c:pt>
                  <c:pt idx="9">
                    <c:v>Eating Triggers</c:v>
                  </c:pt>
                  <c:pt idx="10">
                    <c:v>Meal Timing</c:v>
                  </c:pt>
                  <c:pt idx="11">
                    <c:v>Fasting</c:v>
                  </c:pt>
                  <c:pt idx="12">
                    <c:v>Daylight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20</c:v>
                </c:pt>
                <c:pt idx="1">
                  <c:v>12</c:v>
                </c:pt>
                <c:pt idx="2">
                  <c:v>10</c:v>
                </c:pt>
                <c:pt idx="3">
                  <c:v>10</c:v>
                </c:pt>
                <c:pt idx="4">
                  <c:v>8</c:v>
                </c:pt>
                <c:pt idx="5">
                  <c:v>8</c:v>
                </c:pt>
                <c:pt idx="6">
                  <c:v>7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4</c:v>
                </c:pt>
                <c:pt idx="11">
                  <c:v>3</c:v>
                </c:pt>
                <c:pt idx="12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A33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332B"/>
                </a:solidFill>
                <a:latin typeface="Helvetica Neu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5080" cap="flat">
              <a:solidFill>
                <a:srgbClr val="D9D5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873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3E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stress</c:v>
                </c:pt>
              </c:strCache>
            </c:strRef>
          </c:tx>
          <c:spPr>
            <a:solidFill>
              <a:srgbClr val="C15F3C"/>
            </a:solidFill>
            <a:ln w="38100" cap="flat">
              <a:solidFill>
                <a:srgbClr val="C15F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3A332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15F3C"/>
              </a:solidFill>
              <a:ln w="19050" cap="flat">
                <a:solidFill>
                  <a:srgbClr val="C15F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44</c:v>
                </c:pt>
                <c:pt idx="1">
                  <c:v>53</c:v>
                </c:pt>
                <c:pt idx="2">
                  <c:v>61</c:v>
                </c:pt>
                <c:pt idx="3">
                  <c:v>58</c:v>
                </c:pt>
                <c:pt idx="4">
                  <c:v>47</c:v>
                </c:pt>
                <c:pt idx="5">
                  <c:v>33</c:v>
                </c:pt>
                <c:pt idx="6">
                  <c:v>28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3A332B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32B"/>
                </a:solidFill>
                <a:latin typeface="Helvetica Neu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5080" cap="flat">
              <a:solidFill>
                <a:srgbClr val="D9D5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873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3EE"/>
        </a:solidFill>
        <a:ln>
          <a:noFill/>
        </a:ln>
        <a:effectLst/>
      </c:spPr>
    </c:plotArea>
    <c:plotVisOnly val="1"/>
    <c:dispBlanksAs val="span"/>
  </c:chart>
  <c:spPr>
    <a:solidFill>
      <a:srgbClr val="F4F3E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6576" cy="5577840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B.TECH MAJOR PROJECT</a:t>
            </a:r>
            <a:pPr indent="0" marL="0">
              <a:buNone/>
            </a:pPr>
            <a:r>
              <a:rPr lang="en-US" sz="1000" dirty="0">
                <a:solidFill>
                  <a:srgbClr val="B1AD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·   </a:t>
            </a:r>
            <a:pPr indent="0" marL="0">
              <a:buNone/>
            </a:pPr>
            <a:r>
              <a:rPr lang="en-US" sz="1000" b="1" spc="400" kern="0" dirty="0">
                <a:solidFill>
                  <a:srgbClr val="C15F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Cadence.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914400" y="3886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1F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stress monitoring &amp; wellness intelligence application for iOS.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5486400"/>
            <a:ext cx="3657600" cy="0"/>
          </a:xfrm>
          <a:prstGeom prst="line">
            <a:avLst/>
          </a:prstGeom>
          <a:noFill/>
          <a:ln w="6350">
            <a:solidFill>
              <a:srgbClr val="D9D5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577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58247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Hariom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6217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226301096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5577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ADVISED BY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58247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Mr. Ashwini Kumar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6217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Assistant Professor, CSE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03920" y="5577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INSTITUTION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03920" y="58247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Gurukula Kangri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03920" y="6217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Deemed University, Haridwar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pPr indent="0" marL="0">
              <a:buNone/>
            </a:pPr>
            <a:r>
              <a:rPr lang="en-US" sz="1100" dirty="0">
                <a:solidFill>
                  <a:srgbClr val="B1AD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·  </a:t>
            </a:r>
            <a:pPr indent="0" marL="0">
              <a:buNone/>
            </a:pPr>
            <a:r>
              <a:rPr lang="en-US" sz="1000" spc="4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Eight movements across thirty minutes.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0"/>
          </a:xfrm>
          <a:prstGeom prst="line">
            <a:avLst/>
          </a:prstGeom>
          <a:noFill/>
          <a:ln w="19050">
            <a:solidFill>
              <a:srgbClr val="C15F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688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2468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468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1AD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·  ·  ·  ·  ·  ·  ·  ·  ·  ·  ·  ·  ·  ·  ·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0" y="2468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context, motivation, problem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10911535" cy="0"/>
          </a:xfrm>
          <a:prstGeom prst="line">
            <a:avLst/>
          </a:prstGeom>
          <a:noFill/>
          <a:ln w="5080">
            <a:solidFill>
              <a:srgbClr val="D9D5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260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926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2926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1AD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·  ·  ·  ·  ·  ·  ·  ·  ·  ·  ·  ·  ·  ·  ·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2926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stress, sensing, explainability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337560"/>
            <a:ext cx="10911535" cy="0"/>
          </a:xfrm>
          <a:prstGeom prst="line">
            <a:avLst/>
          </a:prstGeom>
          <a:noFill/>
          <a:ln w="5080">
            <a:solidFill>
              <a:srgbClr val="D9D5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832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383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analysis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12080" y="3383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1AD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·  ·  ·  ·  ·  ·  ·  ·  ·  ·  ·  ·  ·  ·  ·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3383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requirements, scoring algorithm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794760"/>
            <a:ext cx="10911535" cy="0"/>
          </a:xfrm>
          <a:prstGeom prst="line">
            <a:avLst/>
          </a:prstGeom>
          <a:noFill/>
          <a:ln w="5080">
            <a:solidFill>
              <a:srgbClr val="D9D5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8404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3840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12080" y="3840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1AD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·  ·  ·  ·  ·  ·  ·  ·  ·  ·  ·  ·  ·  ·  ·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3840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 &amp; data model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251960"/>
            <a:ext cx="10911535" cy="0"/>
          </a:xfrm>
          <a:prstGeom prst="line">
            <a:avLst/>
          </a:prstGeom>
          <a:noFill/>
          <a:ln w="5080">
            <a:solidFill>
              <a:srgbClr val="D9D5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2976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3040" y="4297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12080" y="4297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1AD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·  ·  ·  ·  ·  ·  ·  ·  ·  ·  ·  ·  ·  ·  ·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0" y="4297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stack, integrations, structure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4709160"/>
            <a:ext cx="10911535" cy="0"/>
          </a:xfrm>
          <a:prstGeom prst="line">
            <a:avLst/>
          </a:prstGeom>
          <a:noFill/>
          <a:ln w="5080">
            <a:solidFill>
              <a:srgbClr val="D9D5C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7548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463040" y="4754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12080" y="4754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1AD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·  ·  ·  ·  ·  ·  ·  ·  ·  ·  ·  ·  ·  ·  ·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75120" y="4754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deterministic core verification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5166360"/>
            <a:ext cx="10911535" cy="0"/>
          </a:xfrm>
          <a:prstGeom prst="line">
            <a:avLst/>
          </a:prstGeom>
          <a:noFill/>
          <a:ln w="5080">
            <a:solidFill>
              <a:srgbClr val="D9D5C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2120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463040" y="5212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12080" y="5212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1AD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·  ·  ·  ·  ·  ·  ·  ·  ·  ·  ·  ·  ·  ·  ·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675120" y="5212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outcomes vs. commercial systems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" y="5623560"/>
            <a:ext cx="10911535" cy="0"/>
          </a:xfrm>
          <a:prstGeom prst="line">
            <a:avLst/>
          </a:prstGeom>
          <a:noFill/>
          <a:ln w="5080">
            <a:solidFill>
              <a:srgbClr val="D9D5C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56692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VIII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463040" y="5669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212080" y="5669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1AD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·  ·  ·  ·  ·  ·  ·  ·  ·  ·  ·  ·  ·  ·  ·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675120" y="5669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contributions &amp; future scope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3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Cadence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" y="6309360"/>
            <a:ext cx="10911535" cy="0"/>
          </a:xfrm>
          <a:prstGeom prst="line">
            <a:avLst/>
          </a:prstGeom>
          <a:noFill/>
          <a:ln w="6350">
            <a:solidFill>
              <a:srgbClr val="D9D5C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B1AD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·  </a:t>
            </a:r>
            <a:pPr indent="0" marL="0">
              <a:buNone/>
            </a:pPr>
            <a:r>
              <a:rPr lang="en-US" sz="1000" spc="4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case for explainable stress.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a wellness score is only actionable if it can be understood.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0"/>
          </a:xfrm>
          <a:prstGeom prst="line">
            <a:avLst/>
          </a:prstGeom>
          <a:noFill/>
          <a:ln w="19050">
            <a:solidFill>
              <a:srgbClr val="C15F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688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“Stress is the body's wear and tear — silent, cumulative, and frequently unobservable until it becomes illness.”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after McEwen, allostatic load (1998)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C15F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470916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Commercial recovery scores are reactive — they report stress after sleep has already been disrupted, when the window for intervention has closed. Their formulas are proprietary, so a user cannot tell whether today's poor score is attributable to caffeine, insufficient sleep, or excessive evening screen exposure.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0" y="2468880"/>
            <a:ext cx="5029200" cy="3749040"/>
          </a:xfrm>
          <a:prstGeom prst="rect">
            <a:avLst/>
          </a:prstGeom>
          <a:solidFill>
            <a:srgbClr val="EAE7DD"/>
          </a:solidFill>
          <a:ln w="6350">
            <a:solidFill>
              <a:srgbClr val="D9D5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468880"/>
            <a:ext cx="365760" cy="36576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2468880"/>
            <a:ext cx="36576" cy="365760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 STATEMENT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903720" y="310896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can a consumer mobile application compute a single, trustworthy, and explainable measure of daily psychological stress from heterogeneous physiological, behavioural, and lifestyle signals — while preserving the privacy of sensitive health data and remaining useful even when wearable physiological data is incomplete or absent?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3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6309360"/>
            <a:ext cx="10911535" cy="0"/>
          </a:xfrm>
          <a:prstGeom prst="line">
            <a:avLst/>
          </a:prstGeom>
          <a:noFill/>
          <a:ln w="6350">
            <a:solidFill>
              <a:srgbClr val="D9D5C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B1AD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·  </a:t>
            </a:r>
            <a:pPr indent="0" marL="0">
              <a:buNone/>
            </a:pPr>
            <a:r>
              <a:rPr lang="en-US" sz="1000" spc="4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INTRODUCTION · 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objectives.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Decomposed from a single aim — a transparent, multimodal stress monitor for iOS.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0"/>
          </a:xfrm>
          <a:prstGeom prst="line">
            <a:avLst/>
          </a:prstGeom>
          <a:noFill/>
          <a:ln w="19050">
            <a:solidFill>
              <a:srgbClr val="C15F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23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E8D2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24231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Explainable score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88036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Compute a 0–100 daily score deterministically from heterogeneous behavioural, physiological &amp; lifestyle inputs.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5440680" cy="0"/>
          </a:xfrm>
          <a:prstGeom prst="line">
            <a:avLst/>
          </a:prstGeom>
          <a:noFill/>
          <a:ln w="5080">
            <a:solidFill>
              <a:srgbClr val="D9D5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423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E8D2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406640" y="24231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Modifiable factor cards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406640" y="288036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Surface every contributing input as a tappable card so each signal doubles as an entry point for action.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92240" y="3657600"/>
            <a:ext cx="5440680" cy="0"/>
          </a:xfrm>
          <a:prstGeom prst="line">
            <a:avLst/>
          </a:prstGeom>
          <a:noFill/>
          <a:ln w="5080">
            <a:solidFill>
              <a:srgbClr val="D9D5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947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E8D2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554480" y="37947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wellness record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54480" y="425196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Persist a complete daily record on device — no mandatory backend, no cloud dependency.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5440680" cy="0"/>
          </a:xfrm>
          <a:prstGeom prst="line">
            <a:avLst/>
          </a:prstGeom>
          <a:noFill/>
          <a:ln w="5080">
            <a:solidFill>
              <a:srgbClr val="D9D5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7947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E8D2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406640" y="37947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Prospective interventions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406640" y="425196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Provide guided breathing, progressive muscle relaxation, fasting &amp; journaling — to act before stress accumulates.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92240" y="5029200"/>
            <a:ext cx="5440680" cy="0"/>
          </a:xfrm>
          <a:prstGeom prst="line">
            <a:avLst/>
          </a:prstGeom>
          <a:noFill/>
          <a:ln w="5080">
            <a:solidFill>
              <a:srgbClr val="D9D5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1663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E8D2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554480" y="51663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Medical-data privacy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54480" y="562356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Ensure HealthKit reads never leave the device; outbound calls limited to user-entered text.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92240" y="51663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E8D2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406640" y="51663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Graceful degradation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406640" y="562356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Produce a useful score even when wearable signals such as HRV are unavailable.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3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Cadence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6309360"/>
            <a:ext cx="10911535" cy="0"/>
          </a:xfrm>
          <a:prstGeom prst="line">
            <a:avLst/>
          </a:prstGeom>
          <a:noFill/>
          <a:ln w="6350">
            <a:solidFill>
              <a:srgbClr val="D9D5C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pPr indent="0" marL="0">
              <a:buNone/>
            </a:pPr>
            <a:r>
              <a:rPr lang="en-US" sz="1100" dirty="0">
                <a:solidFill>
                  <a:srgbClr val="B1AD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·  </a:t>
            </a:r>
            <a:pPr indent="0" marL="0">
              <a:buNone/>
            </a:pPr>
            <a:r>
              <a:rPr lang="en-US" sz="1000" spc="4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LITERATURE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literature tells us.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Six threads of evidence informing Cadence's design.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0"/>
          </a:xfrm>
          <a:prstGeom prst="line">
            <a:avLst/>
          </a:prstGeom>
          <a:noFill/>
          <a:ln w="19050">
            <a:solidFill>
              <a:srgbClr val="C15F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688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McEwen (1998)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931920" y="24688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Allostatic load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49440" y="246888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Models the cumulative cost of repeated stress activation — motivates the multi-day pattern penalty.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035808"/>
            <a:ext cx="10911535" cy="0"/>
          </a:xfrm>
          <a:prstGeom prst="line">
            <a:avLst/>
          </a:prstGeom>
          <a:noFill/>
          <a:ln w="5080">
            <a:solidFill>
              <a:srgbClr val="D9D5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089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Schmidt et al. (2018) · WESAD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0" y="31089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 benchmark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49440" y="310896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~93% binary stress detection from fused chest signals — strongest case for the thirteen-driver design.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675888"/>
            <a:ext cx="10911535" cy="0"/>
          </a:xfrm>
          <a:prstGeom prst="line">
            <a:avLst/>
          </a:prstGeom>
          <a:noFill/>
          <a:ln w="5080">
            <a:solidFill>
              <a:srgbClr val="D9D5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490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Kim et al. (2018) meta-analysis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31920" y="37490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HRV ↔ stress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49440" y="374904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Confirms HRV reduction with stress, but underscores its lagging nature — motivates behavioural fusion.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315968"/>
            <a:ext cx="10911535" cy="0"/>
          </a:xfrm>
          <a:prstGeom prst="line">
            <a:avLst/>
          </a:prstGeom>
          <a:noFill/>
          <a:ln w="5080">
            <a:solidFill>
              <a:srgbClr val="D9D5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3891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Rudin (2019), Markus et al. (2021)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31920" y="43891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Explainable health AI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438912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Argues for intrinsically interpretable models over post-hoc explanations in high-stakes decisions.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956048"/>
            <a:ext cx="10911535" cy="0"/>
          </a:xfrm>
          <a:prstGeom prst="line">
            <a:avLst/>
          </a:prstGeom>
          <a:noFill/>
          <a:ln w="5080">
            <a:solidFill>
              <a:srgbClr val="D9D5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0292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Nahum-Shani et al. (2018)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1920" y="50292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Just-in-time adaptive interventions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502920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Defines the mHealth paradigm Cadence's modifiable factor cards operationalise.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5596128"/>
            <a:ext cx="10911535" cy="0"/>
          </a:xfrm>
          <a:prstGeom prst="line">
            <a:avLst/>
          </a:prstGeom>
          <a:noFill/>
          <a:ln w="5080">
            <a:solidFill>
              <a:srgbClr val="D9D5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6692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Leproult · Wipfli · Lovallo · Jacka · Chang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31920" y="56692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Behavioural drivers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9440" y="566928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Clinical evidence linking sleep, exercise, caffeine, light &amp; diet to stress — basis for driver weights.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6236208"/>
            <a:ext cx="10911535" cy="0"/>
          </a:xfrm>
          <a:prstGeom prst="line">
            <a:avLst/>
          </a:prstGeom>
          <a:noFill/>
          <a:ln w="5080">
            <a:solidFill>
              <a:srgbClr val="D9D5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3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Cadence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6309360"/>
            <a:ext cx="10911535" cy="0"/>
          </a:xfrm>
          <a:prstGeom prst="line">
            <a:avLst/>
          </a:prstGeom>
          <a:noFill/>
          <a:ln w="6350">
            <a:solidFill>
              <a:srgbClr val="D9D5C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pPr indent="0" marL="0">
              <a:buNone/>
            </a:pPr>
            <a:r>
              <a:rPr lang="en-US" sz="1100" dirty="0">
                <a:solidFill>
                  <a:srgbClr val="B1AD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·  </a:t>
            </a:r>
            <a:pPr indent="0" marL="0">
              <a:buNone/>
            </a:pPr>
            <a:r>
              <a:rPr lang="en-US" sz="1000" spc="4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SYSTEM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Thirteen drivers in three tiers.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Foundational lifestyle factors dominate; modulators refine; subjective signals adjust.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0"/>
          </a:xfrm>
          <a:prstGeom prst="line">
            <a:avLst/>
          </a:prstGeom>
          <a:noFill/>
          <a:ln w="19050">
            <a:solidFill>
              <a:srgbClr val="C15F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23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COMPOSITION  ·  100 PTS</a:t>
            </a:r>
            <a:endParaRPr lang="en-US" sz="9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2743200"/>
          <a:ext cx="5486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400800" y="2423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PER-DRIVER WEIGHT</a:t>
            </a:r>
            <a:endParaRPr lang="en-US" sz="95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400800" y="274320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3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Cadence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40080" y="6309360"/>
            <a:ext cx="10911535" cy="0"/>
          </a:xfrm>
          <a:prstGeom prst="line">
            <a:avLst/>
          </a:prstGeom>
          <a:noFill/>
          <a:ln w="6350">
            <a:solidFill>
              <a:srgbClr val="D9D5C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pPr indent="0" marL="0">
              <a:buNone/>
            </a:pPr>
            <a:r>
              <a:rPr lang="en-US" sz="1100" dirty="0">
                <a:solidFill>
                  <a:srgbClr val="B1AD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·  </a:t>
            </a:r>
            <a:pPr indent="0" marL="0">
              <a:buNone/>
            </a:pPr>
            <a:r>
              <a:rPr lang="en-US" sz="1000" spc="4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SYSTEM ANALYSIS · ALGORITHM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 Scoring v3.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pure, stateless function — identical inputs always yield identical, decomposable scores.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0"/>
          </a:xfrm>
          <a:prstGeom prst="line">
            <a:avLst/>
          </a:prstGeom>
          <a:noFill/>
          <a:ln w="19050">
            <a:solidFill>
              <a:srgbClr val="C15F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4564" y="2514600"/>
            <a:ext cx="21488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5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4564" y="2514600"/>
            <a:ext cx="2148840" cy="36576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7444" y="2651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7444" y="3017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Driver sum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7444" y="3520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Σ 13 drivers · 0–100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07996" y="2514600"/>
            <a:ext cx="21488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5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07996" y="2514600"/>
            <a:ext cx="2148840" cy="36576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90876" y="2651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90876" y="3017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Recovery bonus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90876" y="3520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 −10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1428" y="2514600"/>
            <a:ext cx="21488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5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1428" y="2514600"/>
            <a:ext cx="2148840" cy="36576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04308" y="2651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04308" y="3017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HRV / RHR calibrator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04308" y="3520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× ≥ 1.0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34860" y="2514600"/>
            <a:ext cx="21488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5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34860" y="2514600"/>
            <a:ext cx="2148840" cy="36576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17740" y="2651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17740" y="3017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 penalty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17740" y="3520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 +18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648292" y="2514600"/>
            <a:ext cx="21488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5C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48292" y="2514600"/>
            <a:ext cx="2148840" cy="36576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31172" y="2651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831172" y="3017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penalty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831172" y="3520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clamp 0–100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FORMULA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" y="4617720"/>
            <a:ext cx="10911535" cy="0"/>
          </a:xfrm>
          <a:prstGeom prst="line">
            <a:avLst/>
          </a:prstGeom>
          <a:noFill/>
          <a:ln w="7620">
            <a:solidFill>
              <a:srgbClr val="D9D5C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75488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3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finalScore = clamp ( (driverSum + recoveryBonus) × calibrator − engagementPenalty − patternPenalty,  0,  100 )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" y="5349240"/>
            <a:ext cx="10911535" cy="0"/>
          </a:xfrm>
          <a:prstGeom prst="line">
            <a:avLst/>
          </a:prstGeom>
          <a:noFill/>
          <a:ln w="7620">
            <a:solidFill>
              <a:srgbClr val="D9D5C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48640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order is deliberate. Recovery is applied before the physiological calibrator so that self-regulation is amplified or attenuated by autonomic state; engagement &amp; pattern penalties are additive corrections.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3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Cadence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" y="6309360"/>
            <a:ext cx="10911535" cy="0"/>
          </a:xfrm>
          <a:prstGeom prst="line">
            <a:avLst/>
          </a:prstGeom>
          <a:noFill/>
          <a:ln w="6350">
            <a:solidFill>
              <a:srgbClr val="D9D5C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pPr indent="0" marL="0">
              <a:buNone/>
            </a:pPr>
            <a:r>
              <a:rPr lang="en-US" sz="1100" dirty="0">
                <a:solidFill>
                  <a:srgbClr val="B1AD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·  </a:t>
            </a:r>
            <a:pPr indent="0" marL="0">
              <a:buNone/>
            </a:pPr>
            <a:r>
              <a:rPr lang="en-US" sz="1000" spc="4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MVVM + service layer.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Strict separation between a pure computational core and the device-facing layers.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0"/>
          </a:xfrm>
          <a:prstGeom prst="line">
            <a:avLst/>
          </a:prstGeom>
          <a:noFill/>
          <a:ln w="19050">
            <a:solidFill>
              <a:srgbClr val="C15F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560320"/>
            <a:ext cx="13716" cy="3337560"/>
          </a:xfrm>
          <a:prstGeom prst="rect">
            <a:avLst/>
          </a:prstGeom>
          <a:solidFill>
            <a:srgbClr val="D9D5CB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60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94560" y="2715768"/>
            <a:ext cx="9357055" cy="0"/>
          </a:xfrm>
          <a:prstGeom prst="line">
            <a:avLst/>
          </a:prstGeom>
          <a:noFill/>
          <a:ln w="5080">
            <a:solidFill>
              <a:srgbClr val="D9D5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2423160"/>
            <a:ext cx="9265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CadenceApp  →  Splash · Onboarding · MainTab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94560" y="2560320"/>
            <a:ext cx="36576" cy="365760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63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FEATURES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194560" y="3218688"/>
            <a:ext cx="9357055" cy="0"/>
          </a:xfrm>
          <a:prstGeom prst="line">
            <a:avLst/>
          </a:prstGeom>
          <a:noFill/>
          <a:ln w="5080">
            <a:solidFill>
              <a:srgbClr val="D9D5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2926080"/>
            <a:ext cx="9265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 ·  Stress  ·  Burn  ·  Sleep  ·  Goals  ·  Fasting  ·  Profile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SERVICES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194560" y="3721608"/>
            <a:ext cx="9357055" cy="0"/>
          </a:xfrm>
          <a:prstGeom prst="line">
            <a:avLst/>
          </a:prstGeom>
          <a:noFill/>
          <a:ln w="5080">
            <a:solidFill>
              <a:srgbClr val="D9D5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3429000"/>
            <a:ext cx="9265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HealthKitService  ·  StressScoring (v3)  ·  FastingService  ·  InsightEngine  · …~35 services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069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94560" y="4224528"/>
            <a:ext cx="9357055" cy="0"/>
          </a:xfrm>
          <a:prstGeom prst="line">
            <a:avLst/>
          </a:prstGeom>
          <a:noFill/>
          <a:ln w="5080">
            <a:solidFill>
              <a:srgbClr val="D9D5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3931920"/>
            <a:ext cx="9265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SwiftData @Model classes  ·  StressReading  ·  FoodLogEntry  ·  WellnessDayLog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572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194560" y="4727448"/>
            <a:ext cx="9357055" cy="0"/>
          </a:xfrm>
          <a:prstGeom prst="line">
            <a:avLst/>
          </a:prstGeom>
          <a:noFill/>
          <a:ln w="5080">
            <a:solidFill>
              <a:srgbClr val="D9D5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4434840"/>
            <a:ext cx="9265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HealthKit  ·  DeviceActivity  ·  ActivityKit  ·  Groq LLM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5074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 GROUP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194560" y="5230368"/>
            <a:ext cx="9357055" cy="0"/>
          </a:xfrm>
          <a:prstGeom prst="line">
            <a:avLst/>
          </a:prstGeom>
          <a:noFill/>
          <a:ln w="5080">
            <a:solidFill>
              <a:srgbClr val="D9D5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4937760"/>
            <a:ext cx="9265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group.com.hariom.wellplate.dev  —  shared store bridging app &amp; extensions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5577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EXTENSIONS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194560" y="5733288"/>
            <a:ext cx="9357055" cy="0"/>
          </a:xfrm>
          <a:prstGeom prst="line">
            <a:avLst/>
          </a:prstGeom>
          <a:noFill/>
          <a:ln w="5080">
            <a:solidFill>
              <a:srgbClr val="D9D5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0" y="5440680"/>
            <a:ext cx="9265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ScreenTimeMonitor  ·  ScreenTimeReport  ·  CadenceWidget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194560" y="5577840"/>
            <a:ext cx="36576" cy="365760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3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Cadence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6309360"/>
            <a:ext cx="10911535" cy="0"/>
          </a:xfrm>
          <a:prstGeom prst="line">
            <a:avLst/>
          </a:prstGeom>
          <a:noFill/>
          <a:ln w="6350">
            <a:solidFill>
              <a:srgbClr val="D9D5C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pPr indent="0" marL="0">
              <a:buNone/>
            </a:pPr>
            <a:r>
              <a:rPr lang="en-US" sz="1100" dirty="0">
                <a:solidFill>
                  <a:srgbClr val="B1AD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·  </a:t>
            </a:r>
            <a:pPr indent="0" marL="0">
              <a:buNone/>
            </a:pPr>
            <a:r>
              <a:rPr lang="en-US" sz="1000" spc="4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iOS 18+ · Swift 5 · modern concurrency by default.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0"/>
          </a:xfrm>
          <a:prstGeom prst="line">
            <a:avLst/>
          </a:prstGeom>
          <a:noFill/>
          <a:ln w="19050">
            <a:solidFill>
              <a:srgbClr val="C15F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423160"/>
            <a:ext cx="10911535" cy="0"/>
          </a:xfrm>
          <a:prstGeom prst="line">
            <a:avLst/>
          </a:prstGeom>
          <a:noFill/>
          <a:ln w="12700">
            <a:solidFill>
              <a:srgbClr val="3A3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LAYER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0" y="2468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55280" y="2468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10911535" cy="0"/>
          </a:xfrm>
          <a:prstGeom prst="line">
            <a:avLst/>
          </a:prstGeom>
          <a:noFill/>
          <a:ln w="6350">
            <a:solidFill>
              <a:srgbClr val="D9D5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3464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28346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Swift 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55280" y="28346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main-actor isolation by default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136392"/>
            <a:ext cx="10911535" cy="0"/>
          </a:xfrm>
          <a:prstGeom prst="line">
            <a:avLst/>
          </a:prstGeom>
          <a:noFill/>
          <a:ln w="3810">
            <a:solidFill>
              <a:srgbClr val="D9D5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7296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3172968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SwiftUI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0" y="3172968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unified type &amp; shadow system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474720"/>
            <a:ext cx="10911535" cy="0"/>
          </a:xfrm>
          <a:prstGeom prst="line">
            <a:avLst/>
          </a:prstGeom>
          <a:noFill/>
          <a:ln w="3810">
            <a:solidFill>
              <a:srgbClr val="D9D5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511296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0" y="3511296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Swift Charts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55280" y="3511296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stress trends, sleep, activity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813048"/>
            <a:ext cx="10911535" cy="0"/>
          </a:xfrm>
          <a:prstGeom prst="line">
            <a:avLst/>
          </a:prstGeom>
          <a:noFill/>
          <a:ln w="3810">
            <a:solidFill>
              <a:srgbClr val="D9D5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4962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0" y="3849624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SwiftData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955280" y="3849624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 model classes; no Core Data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151376"/>
            <a:ext cx="10911535" cy="0"/>
          </a:xfrm>
          <a:prstGeom prst="line">
            <a:avLst/>
          </a:prstGeom>
          <a:noFill/>
          <a:ln w="3810">
            <a:solidFill>
              <a:srgbClr val="D9D5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187952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data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0" y="418795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HealthKit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955280" y="418795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steps · HR · HRV · sleep · BP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489704"/>
            <a:ext cx="10911535" cy="0"/>
          </a:xfrm>
          <a:prstGeom prst="line">
            <a:avLst/>
          </a:prstGeom>
          <a:noFill/>
          <a:ln w="3810">
            <a:solidFill>
              <a:srgbClr val="D9D5C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52628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 time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0" y="452628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DeviceActivity · FamilyControls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955280" y="452628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extension writes thresholds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4828032"/>
            <a:ext cx="10911535" cy="0"/>
          </a:xfrm>
          <a:prstGeom prst="line">
            <a:avLst/>
          </a:prstGeom>
          <a:noFill/>
          <a:ln w="3810">
            <a:solidFill>
              <a:srgbClr val="D9D5C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86460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activity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657600" y="4864608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ActivityKit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955280" y="4864608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fasting &amp; breathing surfaces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5166360"/>
            <a:ext cx="10911535" cy="0"/>
          </a:xfrm>
          <a:prstGeom prst="line">
            <a:avLst/>
          </a:prstGeom>
          <a:noFill/>
          <a:ln w="3810">
            <a:solidFill>
              <a:srgbClr val="D9D5C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5202936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Nutrition NLP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657600" y="5202936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Groq Cloud · llama-3.3-70b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955280" y="5202936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natural-language meal parsing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" y="5504688"/>
            <a:ext cx="10911535" cy="0"/>
          </a:xfrm>
          <a:prstGeom prst="line">
            <a:avLst/>
          </a:prstGeom>
          <a:noFill/>
          <a:ln w="3810">
            <a:solidFill>
              <a:srgbClr val="D9D5C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554126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Concurrency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657600" y="5541264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async/await, structured tasks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955280" y="5541264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main-actor view-models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080" y="5843016"/>
            <a:ext cx="10911535" cy="0"/>
          </a:xfrm>
          <a:prstGeom prst="line">
            <a:avLst/>
          </a:prstGeom>
          <a:noFill/>
          <a:ln w="3810">
            <a:solidFill>
              <a:srgbClr val="D9D5C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5879592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657600" y="587959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+ 3 extensions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955280" y="587959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monitor · report · widget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0080" y="6217920"/>
            <a:ext cx="10911535" cy="0"/>
          </a:xfrm>
          <a:prstGeom prst="line">
            <a:avLst/>
          </a:prstGeom>
          <a:noFill/>
          <a:ln w="12700">
            <a:solidFill>
              <a:srgbClr val="3A33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3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Cadence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0080" y="6309360"/>
            <a:ext cx="10911535" cy="0"/>
          </a:xfrm>
          <a:prstGeom prst="line">
            <a:avLst/>
          </a:prstGeom>
          <a:noFill/>
          <a:ln w="6350">
            <a:solidFill>
              <a:srgbClr val="D9D5C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</a:t>
            </a:r>
            <a:pPr indent="0" marL="0">
              <a:buNone/>
            </a:pPr>
            <a:r>
              <a:rPr lang="en-US" sz="1100" dirty="0">
                <a:solidFill>
                  <a:srgbClr val="B1AD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·  </a:t>
            </a:r>
            <a:pPr indent="0" marL="0">
              <a:buNone/>
            </a:pPr>
            <a:r>
              <a:rPr lang="en-US" sz="1000" spc="4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layers of verification.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Unit · mock-based · build verification across all schemes.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0"/>
          </a:xfrm>
          <a:prstGeom prst="line">
            <a:avLst/>
          </a:prstGeom>
          <a:noFill/>
          <a:ln w="19050">
            <a:solidFill>
              <a:srgbClr val="C15F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2288" y="2514600"/>
            <a:ext cx="3657600" cy="36576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8" y="2697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8D2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72288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testing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2288" y="3721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spc="2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Pinned scenarios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2288" y="4114800"/>
            <a:ext cx="3383280" cy="0"/>
          </a:xfrm>
          <a:prstGeom prst="line">
            <a:avLst/>
          </a:prstGeom>
          <a:noFill/>
          <a:ln w="5080">
            <a:solidFill>
              <a:srgbClr val="D9D5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288" y="42519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Verifies the deterministic core &amp; networking orchestration against hand-computed scenarios with exact expected scores.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67048" y="2514600"/>
            <a:ext cx="3657600" cy="36576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67048" y="2697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8D2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267048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Mock-based testing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267048" y="3721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spc="2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Bundled responses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67048" y="4114800"/>
            <a:ext cx="3383280" cy="0"/>
          </a:xfrm>
          <a:prstGeom prst="line">
            <a:avLst/>
          </a:prstGeom>
          <a:noFill/>
          <a:ln w="5080">
            <a:solidFill>
              <a:srgbClr val="D9D5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67048" y="42519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Exercises data-parsing paths using bundled sample responses — removing any dependence on live network services.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61808" y="2514600"/>
            <a:ext cx="3657600" cy="36576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61808" y="2697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8D2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061808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verification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061808" y="3721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spc="2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schemes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61808" y="4114800"/>
            <a:ext cx="3383280" cy="0"/>
          </a:xfrm>
          <a:prstGeom prst="line">
            <a:avLst/>
          </a:prstGeom>
          <a:noFill/>
          <a:ln w="5080">
            <a:solidFill>
              <a:srgbClr val="D9D5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61808" y="42519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Confirms the main app and all three extensions compile cleanly, catching integration regressions unit tests cannot.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349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REPRESENTATIVE SCENARIOS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" y="5669280"/>
            <a:ext cx="10911535" cy="0"/>
          </a:xfrm>
          <a:prstGeom prst="line">
            <a:avLst/>
          </a:prstGeom>
          <a:noFill/>
          <a:ln w="6350">
            <a:solidFill>
              <a:srgbClr val="D9D5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Good day → low score, high confidence     ·  Sleep-deprived + caffeine + screen → high score     ·  Sparsely logged → engagement penalty engages     ·  Completed interventions → recovery bonus applied     ·  Multi-day rising → pattern penalty engages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3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Cadence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6309360"/>
            <a:ext cx="10911535" cy="0"/>
          </a:xfrm>
          <a:prstGeom prst="line">
            <a:avLst/>
          </a:prstGeom>
          <a:noFill/>
          <a:ln w="6350">
            <a:solidFill>
              <a:srgbClr val="D9D5CB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</a:t>
            </a:r>
            <a:pPr indent="0" marL="0">
              <a:buNone/>
            </a:pPr>
            <a:r>
              <a:rPr lang="en-US" sz="1100" dirty="0">
                <a:solidFill>
                  <a:srgbClr val="B1AD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·  </a:t>
            </a:r>
            <a:pPr indent="0" marL="0">
              <a:buNone/>
            </a:pPr>
            <a:r>
              <a:rPr lang="en-US" sz="1000" spc="4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illustrative week.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inflection is attributable to a specific driver.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0"/>
          </a:xfrm>
          <a:prstGeom prst="line">
            <a:avLst/>
          </a:prstGeom>
          <a:noFill/>
          <a:ln w="19050">
            <a:solidFill>
              <a:srgbClr val="C15F3C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640080" y="2514600"/>
          <a:ext cx="7315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22960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C15F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MID-WEEK PEAK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229600" y="2926080"/>
            <a:ext cx="3474720" cy="0"/>
          </a:xfrm>
          <a:prstGeom prst="line">
            <a:avLst/>
          </a:prstGeom>
          <a:noFill/>
          <a:ln w="5080">
            <a:solidFill>
              <a:srgbClr val="D9D5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0" y="30175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Poor sleep on Wed combined with high evening screen time drove the spike.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0" y="3886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C15F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WEEKEND DECLINE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229600" y="4206240"/>
            <a:ext cx="3474720" cy="0"/>
          </a:xfrm>
          <a:prstGeom prst="line">
            <a:avLst/>
          </a:prstGeom>
          <a:noFill/>
          <a:ln w="5080">
            <a:solidFill>
              <a:srgbClr val="D9D5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0" y="42976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Completed exercise &amp; breathing interventions registered through the recovery bonus.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0" y="5166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C15F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QUALITATIVE BANDS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229600" y="5486400"/>
            <a:ext cx="3474720" cy="0"/>
          </a:xfrm>
          <a:prstGeom prst="line">
            <a:avLst/>
          </a:prstGeom>
          <a:noFill/>
          <a:ln w="5080">
            <a:solidFill>
              <a:srgbClr val="D9D5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0" y="55778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0–20 Excellent · 21–40 Good · 41–60 Moderate · 61–80 High · 81–100 Very high.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3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Cadence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0080" y="6309360"/>
            <a:ext cx="10911535" cy="0"/>
          </a:xfrm>
          <a:prstGeom prst="line">
            <a:avLst/>
          </a:prstGeom>
          <a:noFill/>
          <a:ln w="6350">
            <a:solidFill>
              <a:srgbClr val="D9D5CB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</a:t>
            </a:r>
            <a:pPr indent="0" marL="0">
              <a:buNone/>
            </a:pPr>
            <a:r>
              <a:rPr lang="en-US" sz="1100" dirty="0">
                <a:solidFill>
                  <a:srgbClr val="B1AD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·  </a:t>
            </a:r>
            <a:pPr indent="0" marL="0">
              <a:buNone/>
            </a:pPr>
            <a:r>
              <a:rPr lang="en-US" sz="1000" spc="4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RESULTS · 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Cadence vs. commercial HRV scores.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Six dimensions where the design diverges from Whoop, Oura &amp; similar systems.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0"/>
          </a:xfrm>
          <a:prstGeom prst="line">
            <a:avLst/>
          </a:prstGeom>
          <a:noFill/>
          <a:ln w="19050">
            <a:solidFill>
              <a:srgbClr val="C15F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514600"/>
            <a:ext cx="10911535" cy="0"/>
          </a:xfrm>
          <a:prstGeom prst="line">
            <a:avLst/>
          </a:prstGeom>
          <a:noFill/>
          <a:ln w="12700">
            <a:solidFill>
              <a:srgbClr val="3A3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694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DIMENSION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83280" y="25694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COMMERCIAL HRV SCORES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25694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15F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CADENCE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10911535" cy="0"/>
          </a:xfrm>
          <a:prstGeom prst="line">
            <a:avLst/>
          </a:prstGeom>
          <a:noFill/>
          <a:ln w="6350">
            <a:solidFill>
              <a:srgbClr val="D9D5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signal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2971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Overnight HRV / RHR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0" y="2971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multimodal drivers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10911535" cy="0"/>
          </a:xfrm>
          <a:prstGeom prst="line">
            <a:avLst/>
          </a:prstGeom>
          <a:noFill/>
          <a:ln w="3810">
            <a:solidFill>
              <a:srgbClr val="D9D5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Behavioural drivers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3429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Largely absent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 to the model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10911535" cy="0"/>
          </a:xfrm>
          <a:prstGeom prst="line">
            <a:avLst/>
          </a:prstGeom>
          <a:noFill/>
          <a:ln w="3810">
            <a:solidFill>
              <a:srgbClr val="D9D5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transparency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3886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Proprietary / opaque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0" y="3886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Fully decomposable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297680"/>
            <a:ext cx="10911535" cy="0"/>
          </a:xfrm>
          <a:prstGeom prst="line">
            <a:avLst/>
          </a:prstGeom>
          <a:noFill/>
          <a:ln w="3810">
            <a:solidFill>
              <a:srgbClr val="D9D5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Intervention timing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4343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Retrospective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98080" y="4343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Prospective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754880"/>
            <a:ext cx="10911535" cy="0"/>
          </a:xfrm>
          <a:prstGeom prst="line">
            <a:avLst/>
          </a:prstGeom>
          <a:noFill/>
          <a:ln w="3810">
            <a:solidFill>
              <a:srgbClr val="D9D5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800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On-device privacy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4800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Cloud-dependent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98080" y="4800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On-device by default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5212080"/>
            <a:ext cx="10911535" cy="0"/>
          </a:xfrm>
          <a:prstGeom prst="line">
            <a:avLst/>
          </a:prstGeom>
          <a:noFill/>
          <a:ln w="3810">
            <a:solidFill>
              <a:srgbClr val="D9D5C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257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Dedicated hardware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83280" y="5257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Required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98080" y="5257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Optional (degrades gracefully)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" y="5669280"/>
            <a:ext cx="10911535" cy="0"/>
          </a:xfrm>
          <a:prstGeom prst="line">
            <a:avLst/>
          </a:prstGeom>
          <a:noFill/>
          <a:ln w="3810">
            <a:solidFill>
              <a:srgbClr val="D9D5C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760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873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“Multimodal fusion reaches ~93% binary stress-detection accuracy (Schmidt et al., WESAD 2018).”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3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Cadence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" y="6309360"/>
            <a:ext cx="10911535" cy="0"/>
          </a:xfrm>
          <a:prstGeom prst="line">
            <a:avLst/>
          </a:prstGeom>
          <a:noFill/>
          <a:ln w="6350">
            <a:solidFill>
              <a:srgbClr val="D9D5CB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VIII</a:t>
            </a:r>
            <a:pPr indent="0" marL="0">
              <a:buNone/>
            </a:pPr>
            <a:r>
              <a:rPr lang="en-US" sz="1100" dirty="0">
                <a:solidFill>
                  <a:srgbClr val="B1AD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·  </a:t>
            </a:r>
            <a:pPr indent="0" marL="0">
              <a:buNone/>
            </a:pPr>
            <a:r>
              <a:rPr lang="en-US" sz="1000" spc="4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found, what's next.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contributions; four directions ahead.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0"/>
          </a:xfrm>
          <a:prstGeom prst="line">
            <a:avLst/>
          </a:prstGeom>
          <a:noFill/>
          <a:ln w="19050">
            <a:solidFill>
              <a:srgbClr val="C15F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C15F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 FOUND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5349240" cy="0"/>
          </a:xfrm>
          <a:prstGeom prst="line">
            <a:avLst/>
          </a:prstGeom>
          <a:noFill/>
          <a:ln w="6350">
            <a:solidFill>
              <a:srgbClr val="D9D5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26080"/>
            <a:ext cx="5349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consumer mobile application can compute a single, trustworthy, explainable measure of daily stress — fusing thirteen behavioural, physiological &amp; lifestyle drivers in a transparent, tier-weighted, deterministic engine.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4348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4434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Multimodal alternative to single-signal commercial scores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9834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4983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Deterministic, fully auditable model with actionable feedback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5532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Privacy-preserving on-device architecture across Apple frameworks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C15F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WHAT'S NEXT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0" y="2834640"/>
            <a:ext cx="5303520" cy="0"/>
          </a:xfrm>
          <a:prstGeom prst="line">
            <a:avLst/>
          </a:prstGeom>
          <a:noFill/>
          <a:ln w="6350">
            <a:solidFill>
              <a:srgbClr val="D9D5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971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D2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4088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Apple Watch companion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3337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Surface intraday stress; feed relaxation sessions into the recovery bonus.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3776472"/>
            <a:ext cx="5303520" cy="0"/>
          </a:xfrm>
          <a:prstGeom prst="line">
            <a:avLst/>
          </a:prstGeom>
          <a:noFill/>
          <a:ln w="3810">
            <a:solidFill>
              <a:srgbClr val="D9D5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813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D2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0" y="3813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iCloud synchronisation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41788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Multi-device SwiftData store with end-to-end privacy preservation.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4617720"/>
            <a:ext cx="5303520" cy="0"/>
          </a:xfrm>
          <a:prstGeom prst="line">
            <a:avLst/>
          </a:prstGeom>
          <a:noFill/>
          <a:ln w="3810">
            <a:solidFill>
              <a:srgbClr val="D9D5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6542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D2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40880" y="46542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On-device CoreML calibration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0880" y="502005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Personal driver weights learned from history; transparent scaling factors.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5458968"/>
            <a:ext cx="5303520" cy="0"/>
          </a:xfrm>
          <a:prstGeom prst="line">
            <a:avLst/>
          </a:prstGeom>
          <a:noFill/>
          <a:ln w="3810">
            <a:solidFill>
              <a:srgbClr val="D9D5C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54955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D2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40880" y="54955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Longitudinal validation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40880" y="586130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Validate against salivary cortisol &amp; the Perceived Stress Scale.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3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Cadence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6309360"/>
            <a:ext cx="10911535" cy="0"/>
          </a:xfrm>
          <a:prstGeom prst="line">
            <a:avLst/>
          </a:prstGeom>
          <a:noFill/>
          <a:ln w="6350">
            <a:solidFill>
              <a:srgbClr val="D9D5CB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pPr indent="0" marL="0">
              <a:buNone/>
            </a:pPr>
            <a:r>
              <a:rPr lang="en-US" sz="1100" dirty="0">
                <a:solidFill>
                  <a:srgbClr val="B1AD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·  </a:t>
            </a:r>
            <a:pPr indent="0" marL="0">
              <a:buNone/>
            </a:pPr>
            <a:r>
              <a:rPr lang="en-US" sz="1000" spc="400" kern="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Selected bibliography.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Eight of thirty peer-reviewed citations underpinning the work.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0"/>
          </a:xfrm>
          <a:prstGeom prst="line">
            <a:avLst/>
          </a:prstGeom>
          <a:noFill/>
          <a:ln w="19050">
            <a:solidFill>
              <a:srgbClr val="C15F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6888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2468880"/>
            <a:ext cx="102714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B. S. McEwen, “Stress, adaptation, and disease: Allostasis and allostatic load,” Ann. NY Academy of Sciences, 1998.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889504"/>
            <a:ext cx="10911535" cy="0"/>
          </a:xfrm>
          <a:prstGeom prst="line">
            <a:avLst/>
          </a:prstGeom>
          <a:noFill/>
          <a:ln w="3810">
            <a:solidFill>
              <a:srgbClr val="D9D5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2608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2926080"/>
            <a:ext cx="102714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S. Cohen, T. Kamarck, R. Mermelstein, “A global measure of perceived stress,” J. Health &amp; Social Behavior, 1983.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346704"/>
            <a:ext cx="10911535" cy="0"/>
          </a:xfrm>
          <a:prstGeom prst="line">
            <a:avLst/>
          </a:prstGeom>
          <a:noFill/>
          <a:ln w="3810">
            <a:solidFill>
              <a:srgbClr val="D9D5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8328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3383280"/>
            <a:ext cx="102714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H.-G. Kim et al., “Stress and heart-rate variability: A meta-analysis,” Psychiatry Investigation, 2018.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803904"/>
            <a:ext cx="10911535" cy="0"/>
          </a:xfrm>
          <a:prstGeom prst="line">
            <a:avLst/>
          </a:prstGeom>
          <a:noFill/>
          <a:ln w="3810">
            <a:solidFill>
              <a:srgbClr val="D9D5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4048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3840480"/>
            <a:ext cx="102714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P. Schmidt et al., “Introducing WESAD, a multimodal dataset for wearable stress and affect detection,” Proc. ACM ICMI, 2018.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261104"/>
            <a:ext cx="10911535" cy="0"/>
          </a:xfrm>
          <a:prstGeom prst="line">
            <a:avLst/>
          </a:prstGeom>
          <a:noFill/>
          <a:ln w="3810">
            <a:solidFill>
              <a:srgbClr val="D9D5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29768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4297680"/>
            <a:ext cx="102714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R. Leproult et al., “Sleep loss results in an elevation of cortisol levels the next evening,” Sleep, 1997.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718304"/>
            <a:ext cx="10911535" cy="0"/>
          </a:xfrm>
          <a:prstGeom prst="line">
            <a:avLst/>
          </a:prstGeom>
          <a:noFill/>
          <a:ln w="3810">
            <a:solidFill>
              <a:srgbClr val="D9D5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75488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4754880"/>
            <a:ext cx="102714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B. M. Wipfli et al., “The anxiolytic effects of exercise: A meta-analysis of randomized trials,” J. Sport &amp; Exercise Psychology, 2008.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5175504"/>
            <a:ext cx="10911535" cy="0"/>
          </a:xfrm>
          <a:prstGeom prst="line">
            <a:avLst/>
          </a:prstGeom>
          <a:noFill/>
          <a:ln w="3810">
            <a:solidFill>
              <a:srgbClr val="D9D5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21208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80160" y="5212080"/>
            <a:ext cx="102714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C. Rudin, “Stop explaining black-box ML for high-stakes decisions and use interpretable models instead,” Nature Machine Intelligence, 2019.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5632704"/>
            <a:ext cx="10911535" cy="0"/>
          </a:xfrm>
          <a:prstGeom prst="line">
            <a:avLst/>
          </a:prstGeom>
          <a:noFill/>
          <a:ln w="3810">
            <a:solidFill>
              <a:srgbClr val="D9D5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66928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80160" y="5669280"/>
            <a:ext cx="102714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1A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I. Nahum-Shani et al., “Just-in-time adaptive interventions in mobile health,” Annals of Behavioral Medicine, 2018.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6089904"/>
            <a:ext cx="10911535" cy="0"/>
          </a:xfrm>
          <a:prstGeom prst="line">
            <a:avLst/>
          </a:prstGeom>
          <a:noFill/>
          <a:ln w="3810">
            <a:solidFill>
              <a:srgbClr val="D9D5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3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Cadence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6309360"/>
            <a:ext cx="10911535" cy="0"/>
          </a:xfrm>
          <a:prstGeom prst="line">
            <a:avLst/>
          </a:prstGeom>
          <a:noFill/>
          <a:ln w="6350">
            <a:solidFill>
              <a:srgbClr val="D9D5CB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pPr indent="0" marL="0">
              <a:buNone/>
            </a:pPr>
            <a:r>
              <a:rPr lang="en-US" sz="13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adence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873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Questions, comments &amp; critique most welcome.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638648" y="4800600"/>
            <a:ext cx="914400" cy="0"/>
          </a:xfrm>
          <a:prstGeom prst="line">
            <a:avLst/>
          </a:prstGeom>
          <a:noFill/>
          <a:ln w="19050">
            <a:solidFill>
              <a:srgbClr val="C15F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16636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Hariom</a:t>
            </a:r>
            <a:endParaRPr lang="en-US" sz="20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Enrolment No. 226301096</a:t>
            </a:r>
            <a:endParaRPr lang="en-US" sz="20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B.Tech · Computer Science &amp; Engineering</a:t>
            </a:r>
            <a:endParaRPr lang="en-US" sz="20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7873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Gurukula Kangri (Deemed University), Haridwar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Cadence — Stress Monitoring &amp; Wellness Intelligence for iOS</dc:title>
  <dc:subject>PptxGenJS Presentation</dc:subject>
  <dc:creator>Hariom</dc:creator>
  <cp:lastModifiedBy>Hariom</cp:lastModifiedBy>
  <cp:revision>1</cp:revision>
  <dcterms:created xsi:type="dcterms:W3CDTF">2026-05-26T16:03:18Z</dcterms:created>
  <dcterms:modified xsi:type="dcterms:W3CDTF">2026-05-26T16:03:18Z</dcterms:modified>
</cp:coreProperties>
</file>